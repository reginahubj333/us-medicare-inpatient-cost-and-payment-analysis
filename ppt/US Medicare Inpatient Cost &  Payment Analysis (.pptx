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86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B8D163-AE8C-4D3F-827D-66965D9C28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24013" y="1160463"/>
            <a:ext cx="46037" cy="460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19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8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61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7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25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38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4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98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36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5226278-BC51-4DEC-9C1B-A65CDB4B80B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15D0019-F9FB-43C7-AEDE-640782768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22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1085-597A-46AD-937F-242CB82BA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322" y="1330112"/>
            <a:ext cx="10782300" cy="2294467"/>
          </a:xfrm>
        </p:spPr>
        <p:txBody>
          <a:bodyPr/>
          <a:lstStyle/>
          <a:p>
            <a:pPr algn="ctr"/>
            <a:r>
              <a:rPr lang="en-US" sz="6000" b="1" dirty="0"/>
              <a:t>US Medicare Inpatient Cost &amp;         Payment Analysis (FY2016)</a:t>
            </a:r>
            <a:endParaRPr lang="en-IN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133CD-1CD4-4581-BE8E-FFB7A566F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297" y="3742853"/>
            <a:ext cx="9228201" cy="1645920"/>
          </a:xfrm>
        </p:spPr>
        <p:txBody>
          <a:bodyPr/>
          <a:lstStyle/>
          <a:p>
            <a:r>
              <a:rPr lang="en-US" dirty="0"/>
              <a:t>                     Healthcare Analytics Case Study</a:t>
            </a:r>
          </a:p>
          <a:p>
            <a:r>
              <a:rPr lang="en-US" dirty="0"/>
              <a:t>                        Tools: Python |SQL |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2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36C7-29BB-4A0D-9EAB-10781A482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892539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800" b="1" dirty="0">
                <a:latin typeface="+mj-lt"/>
              </a:rPr>
              <a:t>Business Context &amp; Objective</a:t>
            </a:r>
            <a:endParaRPr lang="en-IN" sz="4800" b="1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724C-BB05-4A0F-8BD2-7DA69F1CA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27" y="1583140"/>
            <a:ext cx="10753725" cy="52748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Medicare inpatient procedures show wide variation in hospital charges and      payments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Understanding cost vs reimbursement is critical for:</a:t>
            </a:r>
          </a:p>
          <a:p>
            <a:pPr marL="100584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Cost control  </a:t>
            </a:r>
          </a:p>
          <a:p>
            <a:pPr marL="100584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Payment efficiency</a:t>
            </a:r>
          </a:p>
          <a:p>
            <a:pPr marL="100584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Policy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Analyze inpatient charges, payments, and Medicare reimbursement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Identify: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High-Cost procedures (DRGs)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Hospitals with large payment gaps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State-level cost variation       </a:t>
            </a:r>
          </a:p>
        </p:txBody>
      </p:sp>
    </p:spTree>
    <p:extLst>
      <p:ext uri="{BB962C8B-B14F-4D97-AF65-F5344CB8AC3E}">
        <p14:creationId xmlns:p14="http://schemas.microsoft.com/office/powerpoint/2010/main" val="1147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745E9D-8C39-4433-A5DA-DD4866E6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01721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latin typeface="+mj-lt"/>
              </a:rPr>
              <a:t>Dataset Overview</a:t>
            </a:r>
            <a:endParaRPr lang="en-IN" b="1" dirty="0"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990143-9EA8-40B1-B492-8BBA103CC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870586"/>
            <a:ext cx="10753725" cy="472128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Source: Medicare Provider Charge Inpatient (FY2016)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Records: ~197,000 inpatient claims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Key Fields: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DRG Code &amp; Description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Hospital &amp; State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Covered Charges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Medicare Payments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Total Discharges   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08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C904-6BB8-43AA-B35A-F6434318C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459" y="1663169"/>
            <a:ext cx="10753725" cy="49969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Python: Data cleaning &amp;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SQL(MYSQL): Business queries &amp; aggregations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Power BI: Visualization &amp; dashboarding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Key Transformations: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Cleaned currency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Created derived metrics: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Total Payment Gap</a:t>
            </a:r>
          </a:p>
          <a:p>
            <a:pPr marL="134874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Medicare Payment Ratio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   Structured data for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E2DA2-D04E-44EB-A89F-F4BBA54D1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6656" y="499533"/>
            <a:ext cx="10753343" cy="949094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+mj-lt"/>
              </a:rPr>
              <a:t>Data Preparation &amp; Tools</a:t>
            </a:r>
            <a:endParaRPr lang="en-IN" sz="54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960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3608CE1-EFDC-428E-B68E-283B29CA2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1346495"/>
            <a:ext cx="5525271" cy="120984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19080-8ED4-4FA0-85E3-44D45343BE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6656" y="324062"/>
            <a:ext cx="10753343" cy="756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+mj-lt"/>
              </a:rPr>
              <a:t>Executive Summary – Key Metrics</a:t>
            </a:r>
            <a:endParaRPr lang="en-IN" sz="48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28F877-559B-4619-8268-7E39698CA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927" y="1346495"/>
            <a:ext cx="5553850" cy="1190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80B8AC-4D92-4ECE-9B46-119B049C8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01" y="3034840"/>
            <a:ext cx="11063675" cy="349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1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CDED8-D18E-4F9E-8636-3F182B649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113" y="1937981"/>
            <a:ext cx="10753725" cy="376618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Average covered charges significantly exceed Medicare payments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Medicare reimburses only ~25% of covered charges on average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Large payment gaps exist across hospitals and procedures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A5EC3-FBE0-4A50-AE29-5781499021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9865" y="519017"/>
            <a:ext cx="10650219" cy="954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+mj-lt"/>
              </a:rPr>
              <a:t>Key Insights</a:t>
            </a:r>
            <a:endParaRPr lang="en-IN" sz="54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610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2D2C74-1DCA-40AD-AD4E-0E516A5F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341195"/>
            <a:ext cx="10772775" cy="955342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Procedure – Level Cost &amp; Payment Analysis</a:t>
            </a:r>
            <a:endParaRPr lang="en-IN" sz="4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63F7CA0-2381-4D56-8F44-D79C56AFEC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07" y="1245358"/>
            <a:ext cx="6848038" cy="489954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11700-CC8D-4CE1-93E1-1DC17C0F7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29575" y="1296536"/>
            <a:ext cx="4768218" cy="484836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Transplant-related DRGs have the highest covered charges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 Medicare payments remain substantially lower than charges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 High-cost procedures show consistent reimbursement gaps</a:t>
            </a:r>
            <a:endParaRPr lang="en-IN" sz="28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726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7B03A-08F6-40F7-BD81-6126440693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10800000" flipV="1">
            <a:off x="676653" y="341194"/>
            <a:ext cx="10753725" cy="10099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600" b="1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</a:rPr>
              <a:t>Hospital-level Medicare Payment Performance</a:t>
            </a:r>
            <a:endParaRPr lang="en-IN" sz="3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4DC383-457B-4A8D-9076-56E92C71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62" y="4400236"/>
            <a:ext cx="8526065" cy="2343477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531B156-6880-4F1E-A5AB-6BD352D96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2" y="1351129"/>
            <a:ext cx="8535591" cy="2729552"/>
          </a:xfrm>
        </p:spPr>
      </p:pic>
    </p:spTree>
    <p:extLst>
      <p:ext uri="{BB962C8B-B14F-4D97-AF65-F5344CB8AC3E}">
        <p14:creationId xmlns:p14="http://schemas.microsoft.com/office/powerpoint/2010/main" val="2629916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38CC4-9527-4DC7-B800-EF80EE58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Certain hospitals contribute disproportionately to total payment gaps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 Some hospitals maintain high Medicare payment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 Discharge volume impacts overall payment gap magnitude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A702C-B54C-43D1-B39B-D2BBA04E5E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6656" y="506929"/>
            <a:ext cx="10753725" cy="11464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5400" b="1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+mj-lt"/>
              </a:rPr>
              <a:t>Key Insights</a:t>
            </a:r>
            <a:endParaRPr lang="en-IN" sz="54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3183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8267-1F12-4878-9BCD-EA825EE8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3348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State - level Variation In Hospitals Costs And Payments</a:t>
            </a:r>
            <a:endParaRPr lang="en-IN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EC5D71-700B-4AFE-9CB4-1C98713C1D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42" y="1583140"/>
            <a:ext cx="6469039" cy="432634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78B97-573C-4A96-A0DD-0C9BC8C88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0321" y="1602349"/>
            <a:ext cx="4988766" cy="430713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Covered charges vary significantly by stat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 Medicare payment ratios differ independently of charges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 Geographic patterns highlight policy and pricing variation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484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BC41B-C32D-4BB6-9002-E4FA8457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545907"/>
            <a:ext cx="10753725" cy="376618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Medicare payments cover only a fraction of inpatient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High-cost procedures drive most payment gaps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Payment efficiency varies more by hospital and state than by procedure alone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Insights can support:</a:t>
            </a:r>
          </a:p>
          <a:p>
            <a:pPr marL="100584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Cost optimization</a:t>
            </a:r>
          </a:p>
          <a:p>
            <a:pPr marL="100584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Reimbursement policy analysis</a:t>
            </a:r>
          </a:p>
          <a:p>
            <a:pPr marL="100584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Provider performance review	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532E9-74D9-47A7-845A-0D3023AE9C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6656" y="341195"/>
            <a:ext cx="10753725" cy="941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Key Business Takeaways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972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6FC50-B4B2-48BD-B617-033431F9D6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3015" y="2388762"/>
            <a:ext cx="9103056" cy="126883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j-lt"/>
              </a:rPr>
              <a:t>   THANK YOU!</a:t>
            </a:r>
            <a:endParaRPr lang="en-IN" sz="96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875773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174</TotalTime>
  <Words>358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 Light</vt:lpstr>
      <vt:lpstr>Metropolitan</vt:lpstr>
      <vt:lpstr>US Medicare Inpatient Cost &amp;         Payment Analysis (FY2016)</vt:lpstr>
      <vt:lpstr>Business Context &amp; Objective</vt:lpstr>
      <vt:lpstr>Dataset Overview</vt:lpstr>
      <vt:lpstr>PowerPoint Presentation</vt:lpstr>
      <vt:lpstr>PowerPoint Presentation</vt:lpstr>
      <vt:lpstr>PowerPoint Presentation</vt:lpstr>
      <vt:lpstr>Procedure – Level Cost &amp; Payment Analysis</vt:lpstr>
      <vt:lpstr>PowerPoint Presentation</vt:lpstr>
      <vt:lpstr>PowerPoint Presentation</vt:lpstr>
      <vt:lpstr>State - level Variation In Hospitals Costs And Payments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Medicare Inpatient Cost &amp;         Payment Analysis (FY2016)</dc:title>
  <dc:creator>Brighton</dc:creator>
  <cp:lastModifiedBy>Brighton</cp:lastModifiedBy>
  <cp:revision>19</cp:revision>
  <dcterms:created xsi:type="dcterms:W3CDTF">2026-01-19T10:35:03Z</dcterms:created>
  <dcterms:modified xsi:type="dcterms:W3CDTF">2026-01-19T14:14:54Z</dcterms:modified>
</cp:coreProperties>
</file>